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332"/>
                </a:solidFill>
                <a:latin typeface="Arial"/>
              </a:rPr>
              <a:t>Uppskattad tidsbesparing (timmar/år)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Timmar/år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0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Telefonremisser</c:v>
                  </c:pt>
                  <c:pt idx="1">
                    <c:v>Dubbelregistrering</c:v>
                  </c:pt>
                  <c:pt idx="2">
                    <c:v>Akuthantering</c:v>
                  </c:pt>
                  <c:pt idx="3">
                    <c:v>Manuell
prioritering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</c:v>
                </c:pt>
                <c:pt idx="1">
                  <c:v>90</c:v>
                </c:pt>
                <c:pt idx="2">
                  <c:v>45</c:v>
                </c:pt>
                <c:pt idx="3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7432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55448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219456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83464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347472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11480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754880"/>
            <a:ext cx="897940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4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SAHLGRENSKA UNIVERSITETSSJUKHUSET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Från telefonsamtal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till digitalt flöde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Remiss- och prioriteringssystem för ECT- och rTMS-enheten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50292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97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för enhetschefen  ·  ECT/rTMS-enheten  ·  2026-05-29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274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NULÄGE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68580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ssk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samordnar allt—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idag utan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digitalt stöd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91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34670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Juridisk risk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38130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Muntliga ÖL-beslut utan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29260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292608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493776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5303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3088" y="4754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Remisser via telefon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47872" y="10972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Ssk tar emot, antecknar, lägger på minnet. Ingen strukturerad data, inget spår.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63640" y="29260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292608"/>
            <a:ext cx="27432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28232" y="493776"/>
            <a:ext cx="475488" cy="47548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53035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13448" y="4754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ÖL-samråd utan logg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28232" y="10972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Prioriteringsbeslut fattas muntligt – syns inte vid avvikelserapport eller IVO.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383280" y="267004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383280" y="2670048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547872" y="2871216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90779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133088" y="2852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Avd. vet ej status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547872" y="347472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När remiss skickats in per telefon vet avdelningen inte när – eller om – behandling sker.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263640" y="267004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263640" y="2670048"/>
            <a:ext cx="2743200" cy="7315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28232" y="2871216"/>
            <a:ext cx="475488" cy="475488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907792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13448" y="2852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Akut ECT = telefonkedja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28232" y="347472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Ssk ringer ÖL, ringer anestesi separat. Varje steg tar minuter vid vitalindikation.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NYA FLÖDET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Avdelningen remitterar – ECT-ssk och ÖL beslutar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22576" y="2212848"/>
            <a:ext cx="22860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078992"/>
            <a:ext cx="621792" cy="621792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0789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" y="182880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828800"/>
            <a:ext cx="1938528" cy="7315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Avdelning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skickar remiss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6517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Formulär + hälsodekl.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tid bokad ännu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2212848"/>
            <a:ext cx="22860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078992"/>
            <a:ext cx="621792" cy="6217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10789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60320" y="182880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828800"/>
            <a:ext cx="1938528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92024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ECT-ssk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granskar listan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6517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Prioriteringsordning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föreslås av ssk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212848"/>
            <a:ext cx="22860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1078992"/>
            <a:ext cx="621792" cy="62179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58384" y="10789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36592" y="182880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828800"/>
            <a:ext cx="1938528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92024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Samråd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ssk + ÖL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28032" y="26517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 godkänner digitalt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Loggas med tidsstamp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34656" y="1078992"/>
            <a:ext cx="621792" cy="6217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34656" y="10789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912864" y="182880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12864" y="1828800"/>
            <a:ext cx="1938528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4304" y="1920240"/>
            <a:ext cx="1755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Ssk lägger 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schemat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04304" y="265176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Avdelningen får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 notis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" y="4553712"/>
            <a:ext cx="8394192" cy="411480"/>
          </a:xfrm>
          <a:prstGeom prst="rect">
            <a:avLst/>
          </a:prstGeom>
          <a:solidFill>
            <a:srgbClr val="FDEA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AKUT-SPÅR: Vid vitalindikation – systemlarm når ssk, ÖL och anestesi simultant. Förbigår steg 2–3.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SYSTEMETS TRE VYER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Rätt information till rätt person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88920" cy="37490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788920" cy="86868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16736"/>
            <a:ext cx="530352" cy="53035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533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298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Psykiatrisk avdelning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69848" y="15361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Remissformulär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" y="2267712"/>
            <a:ext cx="91440" cy="9144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21284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Personnummersökning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" y="2816352"/>
            <a:ext cx="91440" cy="9144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7614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Urgensgrad: elektiv / halvakut / akut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4632" y="3364992"/>
            <a:ext cx="91440" cy="9144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31012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hälsodeklaration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4632" y="3913632"/>
            <a:ext cx="91440" cy="9144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85876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på remissen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" y="4462272"/>
            <a:ext cx="91440" cy="9144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40740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Notis när tid bekräftas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64408" y="1234440"/>
            <a:ext cx="2788920" cy="37490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64408" y="1234440"/>
            <a:ext cx="2788920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01568" y="1316736"/>
            <a:ext cx="530352" cy="53035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353312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14216" y="1298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ECT-ssk (3–4 st)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014216" y="15361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Prioriteringslista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429000" y="226771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84448" y="221284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inkomna remisser, sorterade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429000" y="281635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84448" y="27614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Flagga frågor till avdelning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429000" y="336499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84448" y="331012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Föreslå schema för ÖL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3429000" y="391363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584448" y="385876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Schemaläggning efter godk.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3429000" y="4462272"/>
            <a:ext cx="91440" cy="914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84448" y="440740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Standby-lista vid avbokningar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208776" y="1234440"/>
            <a:ext cx="2788920" cy="374904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08776" y="1234440"/>
            <a:ext cx="2788920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345936" y="1316736"/>
            <a:ext cx="530352" cy="530352"/>
          </a:xfrm>
          <a:prstGeom prst="ellipse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53312"/>
            <a:ext cx="457200" cy="4572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958584" y="1298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 på ECT-enheten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958584" y="15361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Beslutspanel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6373368" y="2267712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528816" y="221284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Daglig notis: förslag på schema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6373368" y="2816352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528816" y="27614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Godkänn eller ändra med motivering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6373368" y="3364992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28816" y="331012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Beslut loggas + tidsstamp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6373368" y="3913632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28816" y="385876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Notis vid akut ECT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6373368" y="4462272"/>
            <a:ext cx="91440" cy="914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528816" y="440740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revisionslogg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varje roll vinner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17043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28032" y="1280160"/>
            <a:ext cx="566928" cy="566928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25880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32120" y="1225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Juridiskt skydd för ÖL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5321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ÖL:s prioriteringsbeslut loggas digitalt – skyddar vid avvikelserapport och IVO.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213055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28032" y="2240280"/>
            <a:ext cx="566928" cy="566928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286000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21854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Ssk slipper telefonarbete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321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Avdelningarna fyller själva i remiss och hälsodeklaration digitalt.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09160" y="309067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28032" y="3200400"/>
            <a:ext cx="566928" cy="566928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24612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145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Avdelningen ser status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5321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Realtidsstatus: inkommen / granskas / bokad / avvisad.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40507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28032" y="4160520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206240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4105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Akut ECT på sekunder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5321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Systemlarm når ssk, ÖL och anestesi simultant – inga telefonkedjor.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&amp; REGELEFTERLEVNAD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Byggt för VGR:s krav – från dag ett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572768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.NET 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24028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VGR enterprise-std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1325880"/>
            <a:ext cx="1572768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325880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417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29968" y="17190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TypeScript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24028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VGR IT-standard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9896" y="1325880"/>
            <a:ext cx="1572768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1325880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1417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39896" y="17190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13048" y="224028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On-premise, VGR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9824" y="1325880"/>
            <a:ext cx="1572768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1325880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1417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9824" y="17190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SITHS-kort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2976" y="224028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VGR LDAP/AD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9752" y="1325880"/>
            <a:ext cx="1572768" cy="1508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325880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14173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59752" y="17190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FHIR R4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32904" y="2240280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Millennium-redo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063240"/>
            <a:ext cx="27432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" y="3182112"/>
            <a:ext cx="566928" cy="566928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227832"/>
            <a:ext cx="475488" cy="47548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4300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Patientdatalagen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84632" y="382219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data lämnar VGR:s servrar. On-premise, inga amerikanska molntjänster.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246120" y="3063240"/>
            <a:ext cx="27432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410712" y="3182112"/>
            <a:ext cx="566928" cy="566928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3227832"/>
            <a:ext cx="475488" cy="47548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406908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OSL &amp; GDPR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3410712" y="382219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KLASSA-klassning genomförs. Rollbaserad behörighet via SITHS.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172200" y="3063240"/>
            <a:ext cx="27432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336792" y="3182112"/>
            <a:ext cx="566928" cy="566928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3227832"/>
            <a:ext cx="475488" cy="47548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99516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Revisionslogg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336792" y="382219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prioriteringsbeslut och ÖL-godkännanden loggas permanent.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 faser – klinisk vinst redan i fas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920240" y="1527048"/>
            <a:ext cx="13716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261872"/>
            <a:ext cx="566928" cy="5669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" y="1938528"/>
            <a:ext cx="15727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938528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" y="2487168"/>
            <a:ext cx="111556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48716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85292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Enhetschef signerar → IT-ärende öppnas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9312" y="1527048"/>
            <a:ext cx="13716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9464" y="1261872"/>
            <a:ext cx="566928" cy="566928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9464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066544" y="1938528"/>
            <a:ext cx="15727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66544" y="1938528"/>
            <a:ext cx="1572768" cy="64008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VGR 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95144" y="2487168"/>
            <a:ext cx="1115568" cy="2743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95144" y="248716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mån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57984" y="285292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IT-beställning, KLASSA, arkitekturråd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58384" y="1527048"/>
            <a:ext cx="13716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88536" y="1261872"/>
            <a:ext cx="566928" cy="566928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88536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85616" y="1938528"/>
            <a:ext cx="15727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85616" y="1938528"/>
            <a:ext cx="1572768" cy="64008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14216" y="2487168"/>
            <a:ext cx="1115568" cy="2743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4216" y="248716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mån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77056" y="285292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Upphandling eller Chalmers/GU-samverkan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77456" y="1527048"/>
            <a:ext cx="13716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7608" y="1261872"/>
            <a:ext cx="566928" cy="566928"/>
          </a:xfrm>
          <a:prstGeom prst="ellipse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07608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504688" y="1938528"/>
            <a:ext cx="15727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04688" y="1938528"/>
            <a:ext cx="1572768" cy="64008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733288" y="2487168"/>
            <a:ext cx="1115568" cy="274320"/>
          </a:xfrm>
          <a:prstGeom prst="rect">
            <a:avLst/>
          </a:prstGeom>
          <a:solidFill>
            <a:srgbClr val="1A9E5F"/>
          </a:solidFill>
          <a:ln w="12700">
            <a:solidFill>
              <a:srgbClr val="1A9E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248716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mån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96128" y="285292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Remissflöde + prioriteringslista + ÖL-godk.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26680" y="1261872"/>
            <a:ext cx="566928" cy="5669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26680" y="1261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223760" y="1938528"/>
            <a:ext cx="157276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23760" y="1938528"/>
            <a:ext cx="1572768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20116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Produktion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52360" y="2487168"/>
            <a:ext cx="1115568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2360" y="248716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mån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285292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TESSA, Thymatron, Blåappen, Millennium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9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(fas 4) levererar det fullständiga remiss- och prioriteringsflödet.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1A4F8A">
              <a:alpha val="20000"/>
            </a:srgbClr>
          </a:solidFill>
          <a:ln w="12700">
            <a:solidFill>
              <a:srgbClr val="1A4F8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STEG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saker vi behöver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besluta idag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8046720" cy="74980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299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17320" y="2103120"/>
            <a:ext cx="0" cy="530352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029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Godkänn behovsanalysen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3591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Signerat dokument skickas till VGR IT för att öppna ärendet.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8046720" cy="74980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443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417320" y="3017520"/>
            <a:ext cx="0" cy="530352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9443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Boka möte med VGR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2735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Arkitekturrådet behöver träffa oss. Teknisk dokumentation är redo.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8046720" cy="74980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587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417320" y="3931920"/>
            <a:ext cx="0" cy="530352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3858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Besluta om samarbetsform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41879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VGR-resurs, upphandling eller Chalmers/GU? Påverkar tidplan.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590288"/>
            <a:ext cx="804672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590288"/>
            <a:ext cx="7808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"Det här är inte ett bokningssystem – det är en digitalisering av det kliniska beslutsflödet."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ECT/rTMS Remiss- och prioriteringssystem</dc:title>
  <dc:subject>PptxGenJS Presentation</dc:subject>
  <dc:creator>PptxGenJS</dc:creator>
  <cp:lastModifiedBy>PptxGenJS</cp:lastModifiedBy>
  <cp:revision>1</cp:revision>
  <dcterms:created xsi:type="dcterms:W3CDTF">2026-05-29T11:44:52Z</dcterms:created>
  <dcterms:modified xsi:type="dcterms:W3CDTF">2026-05-29T11:44:52Z</dcterms:modified>
</cp:coreProperties>
</file>